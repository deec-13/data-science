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a.xml" ContentType="application/vnd.openxmlformats-officedocument.presentationml.slide+xml"/>
  <Override PartName="/ppt/notesSlides/notesSlide9.xml" ContentType="application/vnd.openxmlformats-officedocument.presentationml.notesSlide+xml"/>
  <Override PartName="/ppt/slides/slideb.xml" ContentType="application/vnd.openxmlformats-officedocument.presentationml.slide+xml"/>
  <Override PartName="/ppt/notesSlides/notesSlidea.xml" ContentType="application/vnd.openxmlformats-officedocument.presentationml.notesSlide+xml"/>
  <Override PartName="/ppt/slides/slidec.xml" ContentType="application/vnd.openxmlformats-officedocument.presentationml.slide+xml"/>
  <Override PartName="/ppt/notesSlides/notesSlideb.xml" ContentType="application/vnd.openxmlformats-officedocument.presentationml.notesSlide+xml"/>
  <Override PartName="/ppt/slides/slided.xml" ContentType="application/vnd.openxmlformats-officedocument.presentationml.slide+xml"/>
  <Override PartName="/ppt/notesSlides/notesSlidec.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 id="264" r:id="RelId7"/>
    <p:sldId id="265" r:id="RelId8"/>
    <p:sldId id="266" r:id="RelId9"/>
    <p:sldId id="267" r:id="RelId10"/>
    <p:sldId id="268" r:id="Rel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 Type="http://schemas.openxmlformats.org/officeDocument/2006/relationships/slide" Target="/ppt/slides/slide9.xml" Id="RelId7" /><Relationship Type="http://schemas.openxmlformats.org/officeDocument/2006/relationships/slide" Target="/ppt/slides/slidea.xml" Id="RelId8" /><Relationship Type="http://schemas.openxmlformats.org/officeDocument/2006/relationships/slide" Target="/ppt/slides/slideb.xml" Id="RelId9" /><Relationship Type="http://schemas.openxmlformats.org/officeDocument/2006/relationships/slide" Target="/ppt/slides/slidec.xml" Id="RelId10" /><Relationship Type="http://schemas.openxmlformats.org/officeDocument/2006/relationships/slide" Target="/ppt/slides/slided.xml" Id="RelId11"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Pay Gap mean 2022-2024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Pay Gap mean 2022-2024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Pay Gap mean 2022-2024 </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Male Pay Gross 2022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Male Pay Gross 2022-2024 by Region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Male Pay Gross 2023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Male Pay Gross 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Male Pay Gross  2022-2024</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Female Pay Gross 2022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Female Pay Gross 2022-2024 by Region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Female Pay Gross 2022-2024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Female Pay Gross 2023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Female Pay Gross 2024</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Male/Female Total STEM Jobs 2021-2022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STEM Job Title and Allocated Code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Male/Female % of Total 2021-2022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Male/Female Total STEM Jobs 2022-2023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Male/Female Total STEM Jobs 2023-2024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Male/Female % of Total 2022-2023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Male/Female % of Total 2023-2024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Male/Female Total STEM Jobs 2021-2024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Male/Female No. of Jobs by Year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Total Public/Private Jobs by Sex 2021-2022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Public/Private Jobs by Sex 2022-2023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Public/Private Jobs by Sex 2023-2024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Public/Private Jobs by Sex 2022-2023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Public/Private Jobs by Sex 2023-2024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Public/Private Jobs by Sex 2021-2022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Lower/Top Pay by Sex 2021-2022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Lower/Top Pay by Sex 2022-2023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Lower/Top Pay by Sex 2023-2024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Lower/Top Pay by Sex 2021-2022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Lower/Top Pay by Sex 2022-2023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Lower/Top Pay by Sex 2023-2024</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Total Median Hourly by % by SIC Code 2021-2024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Median Hourly by % by SIC Code 2021-2024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Median Hourly by % by SIC Code 2021-2024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SIC Code and Related Description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8.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Full Time Job No's by Code 2021-2024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Full Time Job No's by Code 2021-2024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Full Time Job No's by Code 2021-2022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Full Time Job No's by Code 2022-2023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Full Time Job No's by Code 2023-2024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Code and Related Description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9.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Part Time Job No's by Code 2021-2024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Part Time Job No's by Code 2021-22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Part Time Job No's by Code 2022-23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Part Time Job No's by Code 2023-24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Part Time Job No's by Code 2021-2024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Code and Related Description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a.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Full Time Median Pay Gap by Code 2022-2024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Part Time Median Pay Gap by Code 2022-2024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Full Time Median Pay Gap by Code 2022-2024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Part Time Median Pay Gap by Code 2022-2024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SIC Code and Related Description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Full &amp; Part Time Median Pay Gap in % by Code 2022-2024 </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b.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Lower Quartile Wage by Region 2022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Lower Quartile Wage by Region 2023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Lower Quartile Wage by Region 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Lower Quartile Wage by Region 2022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Lower Quartile Wage by Region 2023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Lower Quartile Wage by Region 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Lower Quartile Wage by Region 2022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Lower Quartile Wage by Region 2023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Lower Quartile Wage by Region 2024</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c.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Upper Quartile Wage by Region 2022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Upper Quartile Wage by Region 2023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Upper Quartile Wage by Region 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Upper Quartile Wage by Region 2022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Upper Quartile Wage by Region 2023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Upper Quartile Wage by Region 2024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Upper Quartile Wage by Region 2022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Upper Quartile Wage by Region 2023</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Upper Quartile Wage by Region 2024</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36df0e65-09e3-432a-a965-f69d35289416?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edeaf882d3fa4e9c" /><Relationship Type="http://schemas.openxmlformats.org/officeDocument/2006/relationships/slideLayout" Target="/ppt/slideLayouts/slideLayout8.xml" Id="R75f381b9e14b41ed" /><Relationship Type="http://schemas.openxmlformats.org/officeDocument/2006/relationships/hyperlink" Target="https://app.powerbi.com/groups/me/reports/36df0e65-09e3-432a-a965-f69d35289416/?pbi_source=PowerPoint" TargetMode="External" Id="RelId0" /><Relationship Type="http://schemas.openxmlformats.org/officeDocument/2006/relationships/image" Target="/ppt/media/image4.png" Id="imgId493228249"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a29e2b61d42b4815" /><Relationship Type="http://schemas.openxmlformats.org/officeDocument/2006/relationships/slideLayout" Target="/ppt/slideLayouts/slideLayout8.xml" Id="R1e9c102519854a41" /><Relationship Type="http://schemas.openxmlformats.org/officeDocument/2006/relationships/hyperlink" Target="https://app.powerbi.com/groups/me/reports/36df0e65-09e3-432a-a965-f69d35289416/?pbi_source=PowerPoint" TargetMode="External" Id="RelId1" /><Relationship Type="http://schemas.openxmlformats.org/officeDocument/2006/relationships/image" Target="/ppt/media/image5.png" Id="imgId493228250"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a2dd7128ed8a494a" /><Relationship Type="http://schemas.openxmlformats.org/officeDocument/2006/relationships/slideLayout" Target="/ppt/slideLayouts/slideLayout8.xml" Id="Rded5a8f3a2704817" /><Relationship Type="http://schemas.openxmlformats.org/officeDocument/2006/relationships/hyperlink" Target="https://app.powerbi.com/groups/me/reports/36df0e65-09e3-432a-a965-f69d35289416/?pbi_source=PowerPoint" TargetMode="External" Id="RelId2" /><Relationship Type="http://schemas.openxmlformats.org/officeDocument/2006/relationships/image" Target="/ppt/media/image6.png" Id="imgId493228251"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53fc202631fc4710" /><Relationship Type="http://schemas.openxmlformats.org/officeDocument/2006/relationships/slideLayout" Target="/ppt/slideLayouts/slideLayout8.xml" Id="Rc37ea5952bec4643" /><Relationship Type="http://schemas.openxmlformats.org/officeDocument/2006/relationships/hyperlink" Target="https://app.powerbi.com/groups/me/reports/36df0e65-09e3-432a-a965-f69d35289416/?pbi_source=PowerPoint" TargetMode="External" Id="RelId3" /><Relationship Type="http://schemas.openxmlformats.org/officeDocument/2006/relationships/image" Target="/ppt/media/image7.png" Id="imgId493228252"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afbae801d8cf47be" /><Relationship Type="http://schemas.openxmlformats.org/officeDocument/2006/relationships/slideLayout" Target="/ppt/slideLayouts/slideLayout8.xml" Id="R055c3f6deaea43f9" /><Relationship Type="http://schemas.openxmlformats.org/officeDocument/2006/relationships/hyperlink" Target="https://app.powerbi.com/groups/me/reports/36df0e65-09e3-432a-a965-f69d35289416/?pbi_source=PowerPoint" TargetMode="External" Id="RelId4" /><Relationship Type="http://schemas.openxmlformats.org/officeDocument/2006/relationships/image" Target="/ppt/media/image8.png" Id="imgId493228253"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d489c079632d40c6" /><Relationship Type="http://schemas.openxmlformats.org/officeDocument/2006/relationships/slideLayout" Target="/ppt/slideLayouts/slideLayout8.xml" Id="Re14ccf8e22c64d7d" /><Relationship Type="http://schemas.openxmlformats.org/officeDocument/2006/relationships/hyperlink" Target="https://app.powerbi.com/groups/me/reports/36df0e65-09e3-432a-a965-f69d35289416/?pbi_source=PowerPoint" TargetMode="External" Id="RelId5" /><Relationship Type="http://schemas.openxmlformats.org/officeDocument/2006/relationships/image" Target="/ppt/media/image9.png" Id="imgId493228254"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52bdeb4aa6bb4262" /><Relationship Type="http://schemas.openxmlformats.org/officeDocument/2006/relationships/slideLayout" Target="/ppt/slideLayouts/slideLayout8.xml" Id="R44af9431daed4d06" /><Relationship Type="http://schemas.openxmlformats.org/officeDocument/2006/relationships/hyperlink" Target="https://app.powerbi.com/groups/me/reports/36df0e65-09e3-432a-a965-f69d35289416/?pbi_source=PowerPoint" TargetMode="External" Id="RelId6" /><Relationship Type="http://schemas.openxmlformats.org/officeDocument/2006/relationships/image" Target="/ppt/media/imagea.png" Id="imgId493228255"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7d63e81f34a3485f" /><Relationship Type="http://schemas.openxmlformats.org/officeDocument/2006/relationships/slideLayout" Target="/ppt/slideLayouts/slideLayout8.xml" Id="R8efa68a2654b443b" /><Relationship Type="http://schemas.openxmlformats.org/officeDocument/2006/relationships/hyperlink" Target="https://app.powerbi.com/groups/me/reports/36df0e65-09e3-432a-a965-f69d35289416/?pbi_source=PowerPoint" TargetMode="External" Id="RelId7" /><Relationship Type="http://schemas.openxmlformats.org/officeDocument/2006/relationships/image" Target="/ppt/media/imageb.png" Id="imgId493228256" /></Relationships>
</file>

<file path=ppt/slides/_rels/slidea.xml.rels>&#65279;<?xml version="1.0" encoding="utf-8"?><Relationships xmlns="http://schemas.openxmlformats.org/package/2006/relationships"><Relationship Type="http://schemas.openxmlformats.org/officeDocument/2006/relationships/notesSlide" Target="/ppt/notesSlides/notesSlide9.xml" Id="Rccda0b80cace4c02" /><Relationship Type="http://schemas.openxmlformats.org/officeDocument/2006/relationships/slideLayout" Target="/ppt/slideLayouts/slideLayout8.xml" Id="R1cc8349ae9544207" /><Relationship Type="http://schemas.openxmlformats.org/officeDocument/2006/relationships/hyperlink" Target="https://app.powerbi.com/groups/me/reports/36df0e65-09e3-432a-a965-f69d35289416/?pbi_source=PowerPoint" TargetMode="External" Id="RelId8" /><Relationship Type="http://schemas.openxmlformats.org/officeDocument/2006/relationships/image" Target="/ppt/media/imagec.png" Id="imgId493228257" /></Relationships>
</file>

<file path=ppt/slides/_rels/slideb.xml.rels>&#65279;<?xml version="1.0" encoding="utf-8"?><Relationships xmlns="http://schemas.openxmlformats.org/package/2006/relationships"><Relationship Type="http://schemas.openxmlformats.org/officeDocument/2006/relationships/notesSlide" Target="/ppt/notesSlides/notesSlidea.xml" Id="R972ae559bd0648ad" /><Relationship Type="http://schemas.openxmlformats.org/officeDocument/2006/relationships/slideLayout" Target="/ppt/slideLayouts/slideLayout8.xml" Id="Rf7cb9bb8343d4c0b" /><Relationship Type="http://schemas.openxmlformats.org/officeDocument/2006/relationships/hyperlink" Target="https://app.powerbi.com/groups/me/reports/36df0e65-09e3-432a-a965-f69d35289416/?pbi_source=PowerPoint" TargetMode="External" Id="RelId9" /><Relationship Type="http://schemas.openxmlformats.org/officeDocument/2006/relationships/image" Target="/ppt/media/imaged.png" Id="imgId493228258" /></Relationships>
</file>

<file path=ppt/slides/_rels/slidec.xml.rels>&#65279;<?xml version="1.0" encoding="utf-8"?><Relationships xmlns="http://schemas.openxmlformats.org/package/2006/relationships"><Relationship Type="http://schemas.openxmlformats.org/officeDocument/2006/relationships/notesSlide" Target="/ppt/notesSlides/notesSlideb.xml" Id="Rbd05e6711264430d" /><Relationship Type="http://schemas.openxmlformats.org/officeDocument/2006/relationships/slideLayout" Target="/ppt/slideLayouts/slideLayout8.xml" Id="R506b563ffc6d410d" /><Relationship Type="http://schemas.openxmlformats.org/officeDocument/2006/relationships/hyperlink" Target="https://app.powerbi.com/groups/me/reports/36df0e65-09e3-432a-a965-f69d35289416/?pbi_source=PowerPoint" TargetMode="External" Id="RelId10" /><Relationship Type="http://schemas.openxmlformats.org/officeDocument/2006/relationships/image" Target="/ppt/media/imagee.png" Id="imgId493228259" /></Relationships>
</file>

<file path=ppt/slides/_rels/slided.xml.rels>&#65279;<?xml version="1.0" encoding="utf-8"?><Relationships xmlns="http://schemas.openxmlformats.org/package/2006/relationships"><Relationship Type="http://schemas.openxmlformats.org/officeDocument/2006/relationships/notesSlide" Target="/ppt/notesSlides/notesSlidec.xml" Id="Rd8fbc1dd39f54c83" /><Relationship Type="http://schemas.openxmlformats.org/officeDocument/2006/relationships/slideLayout" Target="/ppt/slideLayouts/slideLayout8.xml" Id="R5fd10682d7694dea" /><Relationship Type="http://schemas.openxmlformats.org/officeDocument/2006/relationships/hyperlink" Target="https://app.powerbi.com/groups/me/reports/36df0e65-09e3-432a-a965-f69d35289416/?pbi_source=PowerPoint" TargetMode="External" Id="RelId11" /><Relationship Type="http://schemas.openxmlformats.org/officeDocument/2006/relationships/image" Target="/ppt/media/imagef.png" Id="imgId493228260"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Gender Pay Gap 2021-2024-r1</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15/01/2025 12:51:17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15/01/2025 12:47:53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Pay Gap mean 2022-2024  ,Pay Gap mean 2022-2024  ,Pay Gap mean 2022-2024 .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49322824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Pay Gap mean 2022-2024</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Male Pay Gross 2022 ,Male Pay Gross 2022-2024 by Region ,Male Pay Gross 2023 ,Male Pay Gross 2024 ,Male Pay Gross  2022-2024.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49322825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Male Wage by Region 2022-2024</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Female Pay Gross 2022 ,Female Pay Gross 2022-2024 by Region ,Female Pay Gross 2022-2024 ,Female Pay Gross 2023 ,Female Pay Gross 2024.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49322825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Female Wage by Region 2022-2024</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Male/Female Total STEM Jobs 2021-2022 ,STEM Job Title and Allocated Code ,Male/Female % of Total 2021-2022 ,Male/Female Total STEM Jobs 2022-2023 ,Male/Female Total STEM Jobs 2023-2024 ,actionButton ,Male/Female % of Total 2022-2023 ,Male/Female % of Total 2023-2024 ,Male/Female Total STEM Jobs 2021-2024 ,Male/Female No. of Jobs by Year.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49322825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STEM Jobs Male to Female Ratio</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Total Public/Private Jobs by Sex 2021-2022 ,Total Public/Private Jobs by Sex 2022-2023 ,Total Public/Private Jobs by Sex 2023-2024 ,Total Public/Private Jobs by Sex 2022-2023 ,Total Public/Private Jobs by Sex 2023-2024 ,Total Public/Private Jobs by Sex 2021-2022 ,pageNavigator.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49322825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Public/Private Wage by Sex </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Lower/Top Pay by Sex 2021-2022 ,Lower/Top Pay by Sex 2022-2023 ,Lower/Top Pay by Sex 2023-2024 ,Lower/Top Pay by Sex 2021-2022 ,Lower/Top Pay by Sex 2022-2023 ,Lower/Top Pay by Sex 2023-2024.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49322825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Quartile Pay by Postcode</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Total Median Hourly by % by SIC Code 2021-2024 ,Total Median Hourly by % by SIC Code 2021-2024 ,Total Median Hourly by % by SIC Code 2021-2024 ,SIC Code and Related Description.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49322825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Total Median Hourly  in %</a:t>
            </a:r>
          </a:p>
        </p:txBody>
      </p:sp>
    </p:spTree>
    <p:clrMapOvr>
      <a:masterClrMapping xmlns:a="http://schemas.openxmlformats.org/drawingml/2006/main"/>
    </p:clrMapOvr>
  </p:cSld>
</p:sld>
</file>

<file path=ppt/slides/slide9.xml><?xml version="1.0" encoding="utf-8"?>
<p:sld xmlns:p="http://schemas.openxmlformats.org/presentationml/2006/main">
  <p:cSld>
    <p:spTree>
      <p:nvGrpSpPr>
        <p:cNvPr id="1" name=""/>
        <p:cNvGrpSpPr/>
        <p:nvPr/>
      </p:nvGrpSpPr>
      <p:grpSpPr/>
      <p:pic>
        <p:nvPicPr>
          <p:cNvPr id="3" name="Picture" title="This slide contains the following visuals: Full Time Job No's by Code 2021-2024 ,Full Time Job No's by Code 2021-2024 ,Full Time Job No's by Code 2021-2022 ,Full Time Job No's by Code 2022-2023 ,Full Time Job No's by Code 2023-2024 ,Code and Related Description. Please refer to the notes on this slide for details">
            <a:hlinkClick xmlns:r="http://schemas.openxmlformats.org/officeDocument/2006/relationships" xmlns:a="http://schemas.openxmlformats.org/drawingml/2006/main" r:id="RelId7"/>
          </p:cNvPr>
          <p:cNvPicPr>
            <a:picLocks xmlns:a="http://schemas.openxmlformats.org/drawingml/2006/main" noChangeAspect="1"/>
          </p:cNvPicPr>
          <p:nvPr/>
        </p:nvPicPr>
        <p:blipFill>
          <a:blip xmlns:r="http://schemas.openxmlformats.org/officeDocument/2006/relationships" xmlns:a="http://schemas.openxmlformats.org/drawingml/2006/main" r:embed="imgId49322825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Full-Time Jobs by SIC Code</a:t>
            </a:r>
          </a:p>
        </p:txBody>
      </p:sp>
    </p:spTree>
    <p:clrMapOvr>
      <a:masterClrMapping xmlns:a="http://schemas.openxmlformats.org/drawingml/2006/main"/>
    </p:clrMapOvr>
  </p:cSld>
</p:sld>
</file>

<file path=ppt/slides/slidea.xml><?xml version="1.0" encoding="utf-8"?>
<p:sld xmlns:p="http://schemas.openxmlformats.org/presentationml/2006/main">
  <p:cSld>
    <p:spTree>
      <p:nvGrpSpPr>
        <p:cNvPr id="1" name=""/>
        <p:cNvGrpSpPr/>
        <p:nvPr/>
      </p:nvGrpSpPr>
      <p:grpSpPr/>
      <p:pic>
        <p:nvPicPr>
          <p:cNvPr id="3" name="Picture" title="This slide contains the following visuals: Part Time Job No's by Code 2021-2024 ,Part Time Job No's by Code 2021-22 ,Part Time Job No's by Code 2022-23 ,Part Time Job No's by Code 2023-24 ,Part Time Job No's by Code 2021-2024 ,Code and Related Description. Please refer to the notes on this slide for details">
            <a:hlinkClick xmlns:r="http://schemas.openxmlformats.org/officeDocument/2006/relationships" xmlns:a="http://schemas.openxmlformats.org/drawingml/2006/main" r:id="RelId8"/>
          </p:cNvPr>
          <p:cNvPicPr>
            <a:picLocks xmlns:a="http://schemas.openxmlformats.org/drawingml/2006/main" noChangeAspect="1"/>
          </p:cNvPicPr>
          <p:nvPr/>
        </p:nvPicPr>
        <p:blipFill>
          <a:blip xmlns:r="http://schemas.openxmlformats.org/officeDocument/2006/relationships" xmlns:a="http://schemas.openxmlformats.org/drawingml/2006/main" r:embed="imgId49322825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Part Time Jobs by SIC Code</a:t>
            </a:r>
          </a:p>
        </p:txBody>
      </p:sp>
    </p:spTree>
    <p:clrMapOvr>
      <a:masterClrMapping xmlns:a="http://schemas.openxmlformats.org/drawingml/2006/main"/>
    </p:clrMapOvr>
  </p:cSld>
</p:sld>
</file>

<file path=ppt/slides/slideb.xml><?xml version="1.0" encoding="utf-8"?>
<p:sld xmlns:p="http://schemas.openxmlformats.org/presentationml/2006/main">
  <p:cSld>
    <p:spTree>
      <p:nvGrpSpPr>
        <p:cNvPr id="1" name=""/>
        <p:cNvGrpSpPr/>
        <p:nvPr/>
      </p:nvGrpSpPr>
      <p:grpSpPr/>
      <p:pic>
        <p:nvPicPr>
          <p:cNvPr id="3" name="Picture" title="This slide contains the following visuals: Full Time Median Pay Gap by Code 2022-2024  ,Part Time Median Pay Gap by Code 2022-2024  ,Full Time Median Pay Gap by Code 2022-2024  ,Part Time Median Pay Gap by Code 2022-2024  ,SIC Code and Related Description ,Full &amp; Part Time Median Pay Gap in % by Code 2022-2024 . Please refer to the notes on this slide for details">
            <a:hlinkClick xmlns:r="http://schemas.openxmlformats.org/officeDocument/2006/relationships" xmlns:a="http://schemas.openxmlformats.org/drawingml/2006/main" r:id="RelId9"/>
          </p:cNvPr>
          <p:cNvPicPr>
            <a:picLocks xmlns:a="http://schemas.openxmlformats.org/drawingml/2006/main" noChangeAspect="1"/>
          </p:cNvPicPr>
          <p:nvPr/>
        </p:nvPicPr>
        <p:blipFill>
          <a:blip xmlns:r="http://schemas.openxmlformats.org/officeDocument/2006/relationships" xmlns:a="http://schemas.openxmlformats.org/drawingml/2006/main" r:embed="imgId49322825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Median Pay Gap by SIC Code Full &amp; Part Time</a:t>
            </a:r>
          </a:p>
        </p:txBody>
      </p:sp>
    </p:spTree>
    <p:clrMapOvr>
      <a:masterClrMapping xmlns:a="http://schemas.openxmlformats.org/drawingml/2006/main"/>
    </p:clrMapOvr>
  </p:cSld>
</p:sld>
</file>

<file path=ppt/slides/slidec.xml><?xml version="1.0" encoding="utf-8"?>
<p:sld xmlns:p="http://schemas.openxmlformats.org/presentationml/2006/main">
  <p:cSld>
    <p:spTree>
      <p:nvGrpSpPr>
        <p:cNvPr id="1" name=""/>
        <p:cNvGrpSpPr/>
        <p:nvPr/>
      </p:nvGrpSpPr>
      <p:grpSpPr/>
      <p:pic>
        <p:nvPicPr>
          <p:cNvPr id="3" name="Picture" title="This slide contains the following visuals: Lower Quartile Wage by Region 2022 ,Lower Quartile Wage by Region 2023 ,Lower Quartile Wage by Region 2024 ,Lower Quartile Wage by Region 2022 ,Lower Quartile Wage by Region 2023 ,Lower Quartile Wage by Region 2024 ,Lower Quartile Wage by Region 2022 ,Lower Quartile Wage by Region 2023 ,Lower Quartile Wage by Region 2024. Please refer to the notes on this slide for details">
            <a:hlinkClick xmlns:r="http://schemas.openxmlformats.org/officeDocument/2006/relationships" xmlns:a="http://schemas.openxmlformats.org/drawingml/2006/main" r:id="RelId10"/>
          </p:cNvPr>
          <p:cNvPicPr>
            <a:picLocks xmlns:a="http://schemas.openxmlformats.org/drawingml/2006/main" noChangeAspect="1"/>
          </p:cNvPicPr>
          <p:nvPr/>
        </p:nvPicPr>
        <p:blipFill>
          <a:blip xmlns:r="http://schemas.openxmlformats.org/officeDocument/2006/relationships" xmlns:a="http://schemas.openxmlformats.org/drawingml/2006/main" r:embed="imgId49322825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Lower Quartile Wage by Region</a:t>
            </a:r>
          </a:p>
        </p:txBody>
      </p:sp>
    </p:spTree>
    <p:clrMapOvr>
      <a:masterClrMapping xmlns:a="http://schemas.openxmlformats.org/drawingml/2006/main"/>
    </p:clrMapOvr>
  </p:cSld>
</p:sld>
</file>

<file path=ppt/slides/slided.xml><?xml version="1.0" encoding="utf-8"?>
<p:sld xmlns:p="http://schemas.openxmlformats.org/presentationml/2006/main">
  <p:cSld>
    <p:spTree>
      <p:nvGrpSpPr>
        <p:cNvPr id="1" name=""/>
        <p:cNvGrpSpPr/>
        <p:nvPr/>
      </p:nvGrpSpPr>
      <p:grpSpPr/>
      <p:pic>
        <p:nvPicPr>
          <p:cNvPr id="3" name="Picture" title="This slide contains the following visuals: Upper Quartile Wage by Region 2022 ,Upper Quartile Wage by Region 2023 ,Upper Quartile Wage by Region 2024 ,Upper Quartile Wage by Region 2022 ,Upper Quartile Wage by Region 2023 ,Upper Quartile Wage by Region 2024 ,Upper Quartile Wage by Region 2022 ,Upper Quartile Wage by Region 2023 ,Upper Quartile Wage by Region 2024. Please refer to the notes on this slide for details">
            <a:hlinkClick xmlns:r="http://schemas.openxmlformats.org/officeDocument/2006/relationships" xmlns:a="http://schemas.openxmlformats.org/drawingml/2006/main" r:id="RelId11"/>
          </p:cNvPr>
          <p:cNvPicPr>
            <a:picLocks xmlns:a="http://schemas.openxmlformats.org/drawingml/2006/main" noChangeAspect="1"/>
          </p:cNvPicPr>
          <p:nvPr/>
        </p:nvPicPr>
        <p:blipFill>
          <a:blip xmlns:r="http://schemas.openxmlformats.org/officeDocument/2006/relationships" xmlns:a="http://schemas.openxmlformats.org/drawingml/2006/main" r:embed="imgId49322826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Upper Quartile Wage by Region</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